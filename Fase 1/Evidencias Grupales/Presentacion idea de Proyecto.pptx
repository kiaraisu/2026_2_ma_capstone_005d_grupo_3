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/FpxSBSQ5PFGZ1CfXQH29eMiy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4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4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4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" name="Google Shape;16;p14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5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15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24" name="Google Shape;24;p15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5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6;p15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27" name="Google Shape;27;p15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28;p15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" name="Google Shape;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6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2" type="body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6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36;p16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37" name="Google Shape;37;p16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6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16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40" name="Google Shape;40;p16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1" name="Google Shape;41;p16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42" name="Google Shape;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" name="Google Shape;45;p17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46" name="Google Shape;46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" name="Google Shape;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8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8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8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9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9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9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0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0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0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1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1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2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2"/>
          <p:cNvSpPr/>
          <p:nvPr/>
        </p:nvSpPr>
        <p:spPr>
          <a:xfrm flipH="1" rot="-5400000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2"/>
          <p:cNvSpPr txBox="1"/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" type="body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79" name="Google Shape;79;p22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80" name="Google Shape;80;p22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2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22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83" name="Google Shape;83;p22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4" name="Google Shape;84;p22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85" name="Google Shape;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6915800" y="2327700"/>
            <a:ext cx="3763800" cy="17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33784"/>
              <a:buFont typeface="Arial"/>
              <a:buNone/>
            </a:pPr>
            <a:r>
              <a:rPr lang="es-CL">
                <a:latin typeface="Arial"/>
                <a:ea typeface="Arial"/>
                <a:cs typeface="Arial"/>
                <a:sym typeface="Arial"/>
              </a:rPr>
              <a:t>TicketIA</a:t>
            </a:r>
            <a:br>
              <a:rPr lang="es-CL">
                <a:latin typeface="Arial"/>
                <a:ea typeface="Arial"/>
                <a:cs typeface="Arial"/>
                <a:sym typeface="Arial"/>
              </a:rPr>
            </a:br>
            <a:r>
              <a:rPr lang="es-CL" sz="3289">
                <a:latin typeface="Arial"/>
                <a:ea typeface="Arial"/>
                <a:cs typeface="Arial"/>
                <a:sym typeface="Arial"/>
              </a:rPr>
              <a:t>Sistema Inteligente de </a:t>
            </a:r>
            <a:r>
              <a:rPr lang="es-CL" sz="3289"/>
              <a:t>Gestión</a:t>
            </a:r>
            <a:r>
              <a:rPr lang="es-CL" sz="3289">
                <a:latin typeface="Arial"/>
                <a:ea typeface="Arial"/>
                <a:cs typeface="Arial"/>
                <a:sym typeface="Arial"/>
              </a:rPr>
              <a:t> de Soporte TI</a:t>
            </a:r>
            <a:endParaRPr sz="3289"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6937310" y="4325782"/>
            <a:ext cx="43563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5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Proyecto APT · Fase 1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937300" y="4787425"/>
            <a:ext cx="43563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Jade Vásquez • Kiara Isuiza • David Navarro</a:t>
            </a:r>
            <a:endParaRPr b="0" i="0" sz="1400" u="none" cap="none" strike="noStrik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386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PT4614 Capstone – Ingeniería en Informática</a:t>
            </a:r>
            <a:endParaRPr sz="14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386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Docente Guía: Fabián Álvarez Montenegro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Septiembre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s-CL">
                <a:latin typeface="Arial"/>
                <a:ea typeface="Arial"/>
                <a:cs typeface="Arial"/>
                <a:sym typeface="Arial"/>
              </a:rPr>
              <a:t>Indice/Agenda</a:t>
            </a:r>
            <a:endParaRPr/>
          </a:p>
        </p:txBody>
      </p:sp>
      <p:sp>
        <p:nvSpPr>
          <p:cNvPr id="98" name="Google Shape;98;p2"/>
          <p:cNvSpPr txBox="1"/>
          <p:nvPr>
            <p:ph idx="2" type="body"/>
          </p:nvPr>
        </p:nvSpPr>
        <p:spPr>
          <a:xfrm>
            <a:off x="1555115" y="1838785"/>
            <a:ext cx="6555952" cy="3180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1. Resumen ejecutivo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2. Definición del proyecto y relevancia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3. Perfil de egreso e intereses profesionales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4. Objetivos del proyecto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5. Metodología de trabajo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6. Plan de trabajo y factibilidad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7. Evidencias e indicadores de calidad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8. Conclusiones y reflexión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654685" y="655266"/>
            <a:ext cx="6555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None/>
            </a:pPr>
            <a:r>
              <a:rPr b="1" lang="es-CL" sz="2400">
                <a:solidFill>
                  <a:srgbClr val="1F3864"/>
                </a:solidFill>
              </a:rPr>
              <a:t>Resumen Ejecutivo</a:t>
            </a:r>
            <a:endParaRPr/>
          </a:p>
        </p:txBody>
      </p:sp>
      <p:sp>
        <p:nvSpPr>
          <p:cNvPr id="104" name="Google Shape;104;p3"/>
          <p:cNvSpPr txBox="1"/>
          <p:nvPr>
            <p:ph idx="2" type="body"/>
          </p:nvPr>
        </p:nvSpPr>
        <p:spPr>
          <a:xfrm>
            <a:off x="654700" y="1304323"/>
            <a:ext cx="65559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76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CL" sz="1900"/>
              <a:t>TicketIA centraliza la gestión de soporte TI de una municipalidad en una sola plataforma.</a:t>
            </a:r>
            <a:endParaRPr sz="1900"/>
          </a:p>
          <a:p>
            <a:pPr indent="-247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CL" sz="1900"/>
              <a:t>Permite crear, asignar y dar seguimiento a tickets de soporte de forma ordenada.</a:t>
            </a:r>
            <a:endParaRPr sz="1900"/>
          </a:p>
          <a:p>
            <a:pPr indent="-247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CL" sz="1900"/>
              <a:t>Incorpora un módulo de IA que clasifica automáticamente categoría y prioridad.</a:t>
            </a:r>
            <a:endParaRPr sz="1900"/>
          </a:p>
          <a:p>
            <a:pPr indent="-247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CL" sz="1900"/>
              <a:t>Desarrollado bajo metodología ágil Kanban, con foco en un MVP realista para el semestre.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6510853" y="405838"/>
            <a:ext cx="4930746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None/>
            </a:pPr>
            <a:r>
              <a:rPr b="1" lang="es-CL" sz="2400">
                <a:solidFill>
                  <a:srgbClr val="1F3864"/>
                </a:solidFill>
              </a:rPr>
              <a:t>Definición del Proyecto</a:t>
            </a:r>
            <a:endParaRPr/>
          </a:p>
        </p:txBody>
      </p:sp>
      <p:sp>
        <p:nvSpPr>
          <p:cNvPr id="110" name="Google Shape;110;p4"/>
          <p:cNvSpPr txBox="1"/>
          <p:nvPr>
            <p:ph idx="2" type="body"/>
          </p:nvPr>
        </p:nvSpPr>
        <p:spPr>
          <a:xfrm>
            <a:off x="6635900" y="1309674"/>
            <a:ext cx="4930800" cy="3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Problema: soporte TI gestionado por canales dispersos (WhatsApp, llamadas, correo).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Sin registro centralizado: no hay trazabilidad ni priorización clara de solicitudes.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Solución: plataforma web con 3 roles – funcionario, técnico y administrador.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Relevancia laboral: el soporte TI es una función transversal a toda institución.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Valor: reduce tiempos de resolución y mejora la trazabilidad del servicio.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1092435" y="863741"/>
            <a:ext cx="6555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None/>
            </a:pPr>
            <a:r>
              <a:rPr b="1" lang="es-CL" sz="2400">
                <a:solidFill>
                  <a:srgbClr val="1F3864"/>
                </a:solidFill>
              </a:rPr>
              <a:t>Perfil de Egreso e Intereses</a:t>
            </a:r>
            <a:endParaRPr/>
          </a:p>
        </p:txBody>
      </p:sp>
      <p:sp>
        <p:nvSpPr>
          <p:cNvPr id="116" name="Google Shape;116;p5"/>
          <p:cNvSpPr txBox="1"/>
          <p:nvPr>
            <p:ph idx="2" type="body"/>
          </p:nvPr>
        </p:nvSpPr>
        <p:spPr>
          <a:xfrm>
            <a:off x="883965" y="1429395"/>
            <a:ext cx="6555900" cy="4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Competencias: desarrollo de software, gestión de bases de datos, gestión ágil de proyectos y gestión de riesgos.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Jade Vásquez (Product Owner / Scrum Master): gestión ágil y coordinación del equipo.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Kiara Isuiza (Programadora): desarrollo backend/frontend, modelado de datos e IA.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David Navarro (Programador / QA): integración, pruebas funcionales y despliegue con Docker.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El proyecto se conecta directamente con el perfil de egreso de Ingeniería en Informática.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1071585" y="551041"/>
            <a:ext cx="6555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None/>
            </a:pPr>
            <a:r>
              <a:rPr b="1" lang="es-CL" sz="2400">
                <a:solidFill>
                  <a:srgbClr val="1F3864"/>
                </a:solidFill>
              </a:rPr>
              <a:t>Objetivos del Proyecto</a:t>
            </a:r>
            <a:endParaRPr/>
          </a:p>
        </p:txBody>
      </p:sp>
      <p:sp>
        <p:nvSpPr>
          <p:cNvPr id="122" name="Google Shape;122;p6"/>
          <p:cNvSpPr txBox="1"/>
          <p:nvPr>
            <p:ph idx="2" type="body"/>
          </p:nvPr>
        </p:nvSpPr>
        <p:spPr>
          <a:xfrm>
            <a:off x="890865" y="1228945"/>
            <a:ext cx="6555900" cy="4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Objetivo general: desarrollar una plataforma de soporte TI que centralice la gestión de tickets con apoyo de IA.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Diseñar el modelo de datos (usuarios, tickets, categorías, prioridades).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Implementar autenticación y roles (funcionario, técnico, administrador).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Integrar un módulo de IA para clasificación automática de tickets.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Construir un dashboard con estadísticas para el administrador.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6385653" y="551763"/>
            <a:ext cx="49308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None/>
            </a:pPr>
            <a:r>
              <a:rPr b="1" lang="es-CL" sz="2400">
                <a:solidFill>
                  <a:srgbClr val="1F3864"/>
                </a:solidFill>
              </a:rPr>
              <a:t>Metodología de Trabajo</a:t>
            </a:r>
            <a:endParaRPr/>
          </a:p>
        </p:txBody>
      </p:sp>
      <p:sp>
        <p:nvSpPr>
          <p:cNvPr id="128" name="Google Shape;128;p7"/>
          <p:cNvSpPr txBox="1"/>
          <p:nvPr>
            <p:ph idx="2" type="body"/>
          </p:nvPr>
        </p:nvSpPr>
        <p:spPr>
          <a:xfrm>
            <a:off x="5968600" y="1226275"/>
            <a:ext cx="5347800" cy="4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Metodología ágil Kanban: columnas Por hacer / En progreso / En revisión / Completado.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Backlog inicial con las historias de usuario del sistema.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Límites de trabajo en progreso (WIP) para evitar la sobrecarga del equipo.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Gestión de riesgos continua en cada reunión de seguimiento.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1050735" y="759491"/>
            <a:ext cx="6555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None/>
            </a:pPr>
            <a:r>
              <a:rPr b="1" lang="es-CL" sz="2400">
                <a:solidFill>
                  <a:srgbClr val="1F3864"/>
                </a:solidFill>
              </a:rPr>
              <a:t>Plan de Trabajo y Cronograma</a:t>
            </a:r>
            <a:endParaRPr/>
          </a:p>
        </p:txBody>
      </p:sp>
      <p:sp>
        <p:nvSpPr>
          <p:cNvPr id="134" name="Google Shape;134;p8"/>
          <p:cNvSpPr txBox="1"/>
          <p:nvPr>
            <p:ph idx="2" type="body"/>
          </p:nvPr>
        </p:nvSpPr>
        <p:spPr>
          <a:xfrm>
            <a:off x="765800" y="1471099"/>
            <a:ext cx="6555900" cy="3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18 semanas, alineadas a las 3 fases de la asignatura Capstone.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Fase 1 (S1-S4): análisis de requerimientos y diseño de base de datos.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Fase 2 (S5-S15): desarrollo del sistema – backend, frontend e IA.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Fase 3 (S16-S18): pruebas, documentación y presentación final.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Recursos: Python/Flask, PostgreSQL, Git/GitHub, Docker.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idx="1" type="body"/>
          </p:nvPr>
        </p:nvSpPr>
        <p:spPr>
          <a:xfrm>
            <a:off x="5739353" y="822738"/>
            <a:ext cx="49308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None/>
            </a:pPr>
            <a:r>
              <a:rPr b="1" lang="es-CL" sz="2400">
                <a:solidFill>
                  <a:srgbClr val="1F3864"/>
                </a:solidFill>
              </a:rPr>
              <a:t>Factibilidad y Riesgos</a:t>
            </a:r>
            <a:endParaRPr/>
          </a:p>
        </p:txBody>
      </p:sp>
      <p:sp>
        <p:nvSpPr>
          <p:cNvPr id="140" name="Google Shape;140;p9"/>
          <p:cNvSpPr txBox="1"/>
          <p:nvPr>
            <p:ph idx="2" type="body"/>
          </p:nvPr>
        </p:nvSpPr>
        <p:spPr>
          <a:xfrm>
            <a:off x="5526050" y="1538975"/>
            <a:ext cx="53574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Factible: herramientas gratuitas y open source; tiempo del semestre suficiente para un MVP.</a:t>
            </a:r>
            <a:endParaRPr sz="1800"/>
          </a:p>
          <a:p>
            <a:pPr indent="-2413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Riesgo: retraso en integración del módulo de IA → mitigación: clasificación simple inicial.</a:t>
            </a:r>
            <a:endParaRPr sz="1800"/>
          </a:p>
          <a:p>
            <a:pPr indent="-2413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Riesgo: requerimientos poco claros del caso simulado → mitigación: validar con el docente.</a:t>
            </a:r>
            <a:endParaRPr sz="1800"/>
          </a:p>
          <a:p>
            <a:pPr indent="-2413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Facilitador: experiencia previa del equipo con programación y bases de datos.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925685" y="842866"/>
            <a:ext cx="6555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None/>
            </a:pPr>
            <a:r>
              <a:rPr b="1" lang="es-CL" sz="2400">
                <a:solidFill>
                  <a:srgbClr val="1F3864"/>
                </a:solidFill>
              </a:rPr>
              <a:t>Evidencias e Indicadores de Calidad</a:t>
            </a:r>
            <a:endParaRPr/>
          </a:p>
        </p:txBody>
      </p:sp>
      <p:sp>
        <p:nvSpPr>
          <p:cNvPr id="146" name="Google Shape;146;p10"/>
          <p:cNvSpPr txBox="1"/>
          <p:nvPr>
            <p:ph idx="2" type="body"/>
          </p:nvPr>
        </p:nvSpPr>
        <p:spPr>
          <a:xfrm>
            <a:off x="738100" y="1596173"/>
            <a:ext cx="6555900" cy="25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Plan de trabajo detallado, MVP funcional y tablero Kanban con tareas asignadas.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Script y diagrama de base de datos; documentación técnica y manual de usuario.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Indicador de calidad 2.1: planifica proyectos informáticos.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Indicador de calidad 3.1: diseña modelos de datos escalables.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6156503" y="614288"/>
            <a:ext cx="49308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None/>
            </a:pPr>
            <a:r>
              <a:rPr b="1" lang="es-CL" sz="2400">
                <a:solidFill>
                  <a:srgbClr val="1F3864"/>
                </a:solidFill>
              </a:rPr>
              <a:t>Conclusiones y Reflexión</a:t>
            </a:r>
            <a:endParaRPr/>
          </a:p>
        </p:txBody>
      </p:sp>
      <p:sp>
        <p:nvSpPr>
          <p:cNvPr id="152" name="Google Shape;152;p11"/>
          <p:cNvSpPr txBox="1"/>
          <p:nvPr>
            <p:ph idx="2" type="body"/>
          </p:nvPr>
        </p:nvSpPr>
        <p:spPr>
          <a:xfrm>
            <a:off x="6406625" y="1267975"/>
            <a:ext cx="4930800" cy="3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El proyecto es factible de desarrollar en el semestre, con un MVP claro y tecnologías accesibles (Python/Flask, PostgreSQL, Docker).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La planificación ágil con Kanban y la definición temprana de riesgos permiten anticipar el trabajo del equipo.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Esta fase reforzó la importancia de definir bien el problema y justificar técnicamente cada decisión antes de programar.</a:t>
            </a:r>
            <a:endParaRPr sz="1800"/>
          </a:p>
          <a:p>
            <a:pPr indent="-241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/>
              <a:t>La distribución de roles – gestión, desarrollo e integración/QA – fue clave para estructurar el proyecto de forma realista.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2024-03-07T18:55:37Z</dcterms:created>
  <dc:creator>Daniela Osorio C.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