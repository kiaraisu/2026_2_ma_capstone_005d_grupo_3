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D74A06-7C70-41AE-BEAF-A21D49515EC1}" v="2" dt="2026-10-14T00:43:29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navarro rojas" userId="735edb5f2ecf8ed5" providerId="LiveId" clId="{EA850B9A-0296-433F-820D-8A8AF6A4E5DC}"/>
    <pc:docChg chg="custSel delSld modSld">
      <pc:chgData name="david navarro rojas" userId="735edb5f2ecf8ed5" providerId="LiveId" clId="{EA850B9A-0296-433F-820D-8A8AF6A4E5DC}" dt="2026-10-14T00:43:31.208" v="24"/>
      <pc:docMkLst>
        <pc:docMk/>
      </pc:docMkLst>
      <pc:sldChg chg="modSp mod">
        <pc:chgData name="david navarro rojas" userId="735edb5f2ecf8ed5" providerId="LiveId" clId="{EA850B9A-0296-433F-820D-8A8AF6A4E5DC}" dt="2026-10-14T00:42:26.687" v="15" actId="20577"/>
        <pc:sldMkLst>
          <pc:docMk/>
          <pc:sldMk cId="0" sldId="256"/>
        </pc:sldMkLst>
        <pc:spChg chg="mod">
          <ac:chgData name="david navarro rojas" userId="735edb5f2ecf8ed5" providerId="LiveId" clId="{EA850B9A-0296-433F-820D-8A8AF6A4E5DC}" dt="2026-10-14T00:42:22.026" v="1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david navarro rojas" userId="735edb5f2ecf8ed5" providerId="LiveId" clId="{EA850B9A-0296-433F-820D-8A8AF6A4E5DC}" dt="2026-10-14T00:42:26.687" v="15" actId="20577"/>
          <ac:spMkLst>
            <pc:docMk/>
            <pc:sldMk cId="0" sldId="256"/>
            <ac:spMk id="8" creationId="{00000000-0000-0000-0000-000000000000}"/>
          </ac:spMkLst>
        </pc:spChg>
      </pc:sldChg>
      <pc:sldChg chg="addSp delSp modSp mod">
        <pc:chgData name="david navarro rojas" userId="735edb5f2ecf8ed5" providerId="LiveId" clId="{EA850B9A-0296-433F-820D-8A8AF6A4E5DC}" dt="2026-10-14T00:43:08.168" v="19"/>
        <pc:sldMkLst>
          <pc:docMk/>
          <pc:sldMk cId="0" sldId="257"/>
        </pc:sldMkLst>
        <pc:spChg chg="del">
          <ac:chgData name="david navarro rojas" userId="735edb5f2ecf8ed5" providerId="LiveId" clId="{EA850B9A-0296-433F-820D-8A8AF6A4E5DC}" dt="2026-10-14T00:43:08.167" v="17" actId="478"/>
          <ac:spMkLst>
            <pc:docMk/>
            <pc:sldMk cId="0" sldId="257"/>
            <ac:spMk id="5" creationId="{00000000-0000-0000-0000-000000000000}"/>
          </ac:spMkLst>
        </pc:spChg>
        <pc:spChg chg="add del mod">
          <ac:chgData name="david navarro rojas" userId="735edb5f2ecf8ed5" providerId="LiveId" clId="{EA850B9A-0296-433F-820D-8A8AF6A4E5DC}" dt="2026-10-14T00:43:08.168" v="19"/>
          <ac:spMkLst>
            <pc:docMk/>
            <pc:sldMk cId="0" sldId="257"/>
            <ac:spMk id="29" creationId="{F2CE73C4-C29D-638F-EA04-BBB487252BE3}"/>
          </ac:spMkLst>
        </pc:spChg>
      </pc:sldChg>
      <pc:sldChg chg="del">
        <pc:chgData name="david navarro rojas" userId="735edb5f2ecf8ed5" providerId="LiveId" clId="{EA850B9A-0296-433F-820D-8A8AF6A4E5DC}" dt="2026-10-14T00:43:23.078" v="20" actId="2696"/>
        <pc:sldMkLst>
          <pc:docMk/>
          <pc:sldMk cId="0" sldId="258"/>
        </pc:sldMkLst>
      </pc:sldChg>
      <pc:sldChg chg="addSp delSp modSp mod">
        <pc:chgData name="david navarro rojas" userId="735edb5f2ecf8ed5" providerId="LiveId" clId="{EA850B9A-0296-433F-820D-8A8AF6A4E5DC}" dt="2026-10-14T00:43:31.208" v="24"/>
        <pc:sldMkLst>
          <pc:docMk/>
          <pc:sldMk cId="0" sldId="260"/>
        </pc:sldMkLst>
        <pc:spChg chg="del">
          <ac:chgData name="david navarro rojas" userId="735edb5f2ecf8ed5" providerId="LiveId" clId="{EA850B9A-0296-433F-820D-8A8AF6A4E5DC}" dt="2026-10-14T00:43:31.207" v="22" actId="478"/>
          <ac:spMkLst>
            <pc:docMk/>
            <pc:sldMk cId="0" sldId="260"/>
            <ac:spMk id="5" creationId="{00000000-0000-0000-0000-000000000000}"/>
          </ac:spMkLst>
        </pc:spChg>
        <pc:spChg chg="add del mod">
          <ac:chgData name="david navarro rojas" userId="735edb5f2ecf8ed5" providerId="LiveId" clId="{EA850B9A-0296-433F-820D-8A8AF6A4E5DC}" dt="2026-10-14T00:43:31.208" v="24"/>
          <ac:spMkLst>
            <pc:docMk/>
            <pc:sldMk cId="0" sldId="260"/>
            <ac:spMk id="38" creationId="{A19EDC32-9927-9058-3AF4-9104337D5244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Puntos</c:v>
                </c:pt>
              </c:strCache>
            </c:strRef>
          </c:tx>
          <c:spPr>
            <a:solidFill>
              <a:srgbClr val="2D66C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</c:v>
                </c:pt>
                <c:pt idx="1">
                  <c:v>20</c:v>
                </c:pt>
                <c:pt idx="2">
                  <c:v>19</c:v>
                </c:pt>
                <c:pt idx="3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85-447F-A97E-097C74F4F7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Aprobadas</c:v>
                </c:pt>
              </c:strCache>
            </c:strRef>
          </c:tx>
          <c:spPr>
            <a:solidFill>
              <a:srgbClr val="20A46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Ejecución 1</c:v>
                </c:pt>
                <c:pt idx="1">
                  <c:v>Ejecución final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</c:v>
                </c:pt>
                <c:pt idx="1">
                  <c:v>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D4-47BB-90E4-06DAD78480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Fallidas</c:v>
                </c:pt>
              </c:strCache>
            </c:strRef>
          </c:tx>
          <c:spPr>
            <a:solidFill>
              <a:srgbClr val="D6454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C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Ejecución 1</c:v>
                </c:pt>
                <c:pt idx="1">
                  <c:v>Ejecución final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13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D4-47BB-90E4-06DAD78480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1409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media/ppt/media/image1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5554980" y="713232"/>
            <a:ext cx="4983480" cy="5394960"/>
          </a:xfrm>
          <a:prstGeom prst="rect">
            <a:avLst/>
          </a:prstGeom>
          <a:solidFill>
            <a:srgbClr val="4D82E5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5" name="Image 1" descr="/mnt/data/duoc_media/word/media/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960120"/>
            <a:ext cx="1600200" cy="39319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89320" y="19202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2500" dirty="0"/>
          </a:p>
        </p:txBody>
      </p:sp>
      <p:sp>
        <p:nvSpPr>
          <p:cNvPr id="7" name="Shape 3"/>
          <p:cNvSpPr/>
          <p:nvPr/>
        </p:nvSpPr>
        <p:spPr>
          <a:xfrm>
            <a:off x="5989320" y="2999232"/>
            <a:ext cx="3383280" cy="0"/>
          </a:xfrm>
          <a:prstGeom prst="line">
            <a:avLst/>
          </a:prstGeom>
          <a:noFill/>
          <a:ln w="12700">
            <a:solidFill>
              <a:srgbClr val="FFFFFF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4"/>
          <p:cNvSpPr/>
          <p:nvPr/>
        </p:nvSpPr>
        <p:spPr>
          <a:xfrm>
            <a:off x="5989320" y="331012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TicketIA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5989320" y="373075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Inteligente de Gestión de Soporte TI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989320" y="480060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Jade Vásquez · Kiara Isuiza · David Navarro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Docente guía: Fabián Álvarez Montenegro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10 · Octubre 2026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84048" y="6492240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66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46304" y="0"/>
            <a:ext cx="164592" cy="384048"/>
          </a:xfrm>
          <a:prstGeom prst="rect">
            <a:avLst/>
          </a:prstGeom>
          <a:solidFill>
            <a:srgbClr val="2D66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y abstract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822960" cy="45720"/>
          </a:xfrm>
          <a:prstGeom prst="rect">
            <a:avLst/>
          </a:prstGeom>
          <a:solidFill>
            <a:srgbClr val="2D66C3"/>
          </a:solidFill>
          <a:ln w="12700">
            <a:solidFill>
              <a:srgbClr val="2D66C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7" name="Image 0" descr="/mnt/data/duoc_media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247" y="155448"/>
            <a:ext cx="1005840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565392"/>
            <a:ext cx="4754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A8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Escuela de Informática y Telecomunicaciones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11475720" y="6501384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7A8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40080" y="15087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63"/>
                </a:solidFill>
              </a:rPr>
              <a:t>Abstract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1847088"/>
            <a:ext cx="498348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</a:rPr>
              <a:t>TicketIA es una plataforma web para centralizar solicitudes de soporte TI en una municipalidad simulada. En Fase 2 se consolidó Scrumban, se verificó Sprint 1 con evidencias técnicas y se ajustó la planificación a 4 sprints balanceados por esfuerzo.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0" y="15087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63"/>
                </a:solidFill>
              </a:rPr>
              <a:t>Estructura de la exposición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0" y="1874520"/>
            <a:ext cx="4480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Avance y metodología Scrumban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400800" y="2286000"/>
            <a:ext cx="4480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Backlog, roadmap y planificación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400800" y="2697480"/>
            <a:ext cx="4480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Evidencias funcionales del Sprint 1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00800" y="3108960"/>
            <a:ext cx="4480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Pruebas, cobertura y defectos corregidos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400800" y="3520440"/>
            <a:ext cx="4480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Modelo de datos y monitoreo del plan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400800" y="3931920"/>
            <a:ext cx="44805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Ajustes, próximos pasos y cierre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77240" y="4983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6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777240" y="539496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épicas consolidadas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606040" y="4983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6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2606040" y="53949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historias priorizadas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572000" y="4983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6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4572000" y="53949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puntos de esfuerzo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6583680" y="4983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6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6583680" y="53949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sprints de ejecución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8732520" y="49834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A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8732520" y="53949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actual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media/ppt/media/image4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1"/>
          <p:cNvSpPr/>
          <p:nvPr/>
        </p:nvSpPr>
        <p:spPr>
          <a:xfrm>
            <a:off x="502920" y="2743200"/>
            <a:ext cx="1005840" cy="658368"/>
          </a:xfrm>
          <a:prstGeom prst="rect">
            <a:avLst/>
          </a:prstGeom>
          <a:solidFill>
            <a:srgbClr val="2D66C3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572768" y="2496312"/>
            <a:ext cx="4023360" cy="1143000"/>
          </a:xfrm>
          <a:prstGeom prst="rect">
            <a:avLst/>
          </a:prstGeom>
          <a:solidFill>
            <a:srgbClr val="2B2B2B">
              <a:alpha val="84000"/>
            </a:srgbClr>
          </a:solidFill>
          <a:ln w="12700">
            <a:solidFill>
              <a:srgbClr val="2B2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1828800" y="2788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 y planificación</a:t>
            </a:r>
            <a:endParaRPr lang="en-US" sz="1800" dirty="0"/>
          </a:p>
        </p:txBody>
      </p:sp>
      <p:pic>
        <p:nvPicPr>
          <p:cNvPr id="7" name="Image 1" descr="/mnt/data/duoc_media/word/media/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3247" y="155448"/>
            <a:ext cx="1005840" cy="2468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6565392"/>
            <a:ext cx="4754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A8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Escuela de Informática y Telecomunicaciones</a:t>
            </a:r>
            <a:endParaRPr lang="en-US" sz="580" dirty="0"/>
          </a:p>
        </p:txBody>
      </p:sp>
      <p:sp>
        <p:nvSpPr>
          <p:cNvPr id="9" name="Text 5"/>
          <p:cNvSpPr/>
          <p:nvPr/>
        </p:nvSpPr>
        <p:spPr>
          <a:xfrm>
            <a:off x="11475720" y="6501384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7A8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66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46304" y="0"/>
            <a:ext cx="164592" cy="384048"/>
          </a:xfrm>
          <a:prstGeom prst="rect">
            <a:avLst/>
          </a:prstGeom>
          <a:solidFill>
            <a:srgbClr val="2D66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 Scrumban actualizada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822960" cy="45720"/>
          </a:xfrm>
          <a:prstGeom prst="rect">
            <a:avLst/>
          </a:prstGeom>
          <a:solidFill>
            <a:srgbClr val="2D66C3"/>
          </a:solidFill>
          <a:ln w="12700">
            <a:solidFill>
              <a:srgbClr val="2D66C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7" name="Image 0" descr="/mnt/data/duoc_media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247" y="155448"/>
            <a:ext cx="1005840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565392"/>
            <a:ext cx="4754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A8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Escuela de Informática y Telecomunicaciones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11475720" y="6501384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7A8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58368" y="151790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63"/>
                </a:solidFill>
              </a:rPr>
              <a:t>Fases del proyecto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1520" y="18745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A63"/>
                </a:solidFill>
              </a:rPr>
              <a:t>Inicio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057400" y="18745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0"/>
                </a:solidFill>
              </a:rPr>
              <a:t>S1–S4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88920" y="18745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11827"/>
                </a:solidFill>
              </a:rPr>
              <a:t>Equipo, roles, stack, ambiente y backlog inicial</a:t>
            </a:r>
            <a:endParaRPr lang="en-US" sz="970" dirty="0"/>
          </a:p>
        </p:txBody>
      </p:sp>
      <p:sp>
        <p:nvSpPr>
          <p:cNvPr id="14" name="Text 11"/>
          <p:cNvSpPr/>
          <p:nvPr/>
        </p:nvSpPr>
        <p:spPr>
          <a:xfrm>
            <a:off x="9006840" y="1856232"/>
            <a:ext cx="1097280" cy="228600"/>
          </a:xfrm>
          <a:prstGeom prst="rect">
            <a:avLst/>
          </a:prstGeom>
          <a:solidFill>
            <a:srgbClr val="E7F7EE"/>
          </a:solidFill>
          <a:ln>
            <a:solidFill>
              <a:srgbClr val="BF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Completado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31520" y="2450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A63"/>
                </a:solidFill>
              </a:rPr>
              <a:t>Planificación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057400" y="24505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0"/>
                </a:solidFill>
              </a:rPr>
              <a:t>S5–S6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2788920" y="24505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11827"/>
                </a:solidFill>
              </a:rPr>
              <a:t>Backlog definitivo: 5 épicas, 21 HU, criterios y esfuerzo</a:t>
            </a:r>
            <a:endParaRPr lang="en-US" sz="970" dirty="0"/>
          </a:p>
        </p:txBody>
      </p:sp>
      <p:sp>
        <p:nvSpPr>
          <p:cNvPr id="18" name="Text 15"/>
          <p:cNvSpPr/>
          <p:nvPr/>
        </p:nvSpPr>
        <p:spPr>
          <a:xfrm>
            <a:off x="9006840" y="2432304"/>
            <a:ext cx="1097280" cy="228600"/>
          </a:xfrm>
          <a:prstGeom prst="rect">
            <a:avLst/>
          </a:prstGeom>
          <a:solidFill>
            <a:srgbClr val="E7F7EE"/>
          </a:solidFill>
          <a:ln>
            <a:solidFill>
              <a:srgbClr val="BF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Completado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31520" y="302666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A63"/>
                </a:solidFill>
              </a:rPr>
              <a:t>Sprint 1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057400" y="30266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0"/>
                </a:solidFill>
              </a:rPr>
              <a:t>S7–S8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788920" y="302666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11827"/>
                </a:solidFill>
              </a:rPr>
              <a:t>HU-01, HU-02, HU-03, HU-21, HU-04 · 21 pts</a:t>
            </a:r>
            <a:endParaRPr lang="en-US" sz="970" dirty="0"/>
          </a:p>
        </p:txBody>
      </p:sp>
      <p:sp>
        <p:nvSpPr>
          <p:cNvPr id="22" name="Text 19"/>
          <p:cNvSpPr/>
          <p:nvPr/>
        </p:nvSpPr>
        <p:spPr>
          <a:xfrm>
            <a:off x="9006840" y="3008376"/>
            <a:ext cx="1097280" cy="228600"/>
          </a:xfrm>
          <a:prstGeom prst="rect">
            <a:avLst/>
          </a:prstGeom>
          <a:solidFill>
            <a:srgbClr val="E7F7EE"/>
          </a:solidFill>
          <a:ln>
            <a:solidFill>
              <a:srgbClr val="BF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Completado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731520" y="36027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A63"/>
                </a:solidFill>
              </a:rPr>
              <a:t>Sprint 2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057400" y="360273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0"/>
                </a:solidFill>
              </a:rPr>
              <a:t>S9–S10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2788920" y="3602736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11827"/>
                </a:solidFill>
              </a:rPr>
              <a:t>Gestión de tickets: consulta, detalle, asignación, estados · 20 pts</a:t>
            </a:r>
            <a:endParaRPr lang="en-US" sz="970" dirty="0"/>
          </a:p>
        </p:txBody>
      </p:sp>
      <p:sp>
        <p:nvSpPr>
          <p:cNvPr id="26" name="Text 23"/>
          <p:cNvSpPr/>
          <p:nvPr/>
        </p:nvSpPr>
        <p:spPr>
          <a:xfrm>
            <a:off x="9006840" y="3584448"/>
            <a:ext cx="1097280" cy="228600"/>
          </a:xfrm>
          <a:prstGeom prst="rect">
            <a:avLst/>
          </a:prstGeom>
          <a:solidFill>
            <a:srgbClr val="FFF4DD"/>
          </a:solidFill>
          <a:ln>
            <a:solidFill>
              <a:srgbClr val="BF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31520" y="417880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A63"/>
                </a:solidFill>
              </a:rPr>
              <a:t>Sprint 3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2057400" y="417880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0"/>
                </a:solidFill>
              </a:rPr>
              <a:t>S11–S12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2788920" y="4178808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11827"/>
                </a:solidFill>
              </a:rPr>
              <a:t>Comentarios, historial, adjuntos e IA · 19 pts</a:t>
            </a:r>
            <a:endParaRPr lang="en-US" sz="970" dirty="0"/>
          </a:p>
        </p:txBody>
      </p:sp>
      <p:sp>
        <p:nvSpPr>
          <p:cNvPr id="30" name="Text 27"/>
          <p:cNvSpPr/>
          <p:nvPr/>
        </p:nvSpPr>
        <p:spPr>
          <a:xfrm>
            <a:off x="9006840" y="4160520"/>
            <a:ext cx="1097280" cy="228600"/>
          </a:xfrm>
          <a:prstGeom prst="rect">
            <a:avLst/>
          </a:prstGeom>
          <a:solidFill>
            <a:srgbClr val="F0F2F4"/>
          </a:solidFill>
          <a:ln>
            <a:solidFill>
              <a:srgbClr val="BF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Planificado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31520" y="47548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A63"/>
                </a:solidFill>
              </a:rPr>
              <a:t>Sprint 4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2057400" y="475488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0"/>
                </a:solidFill>
              </a:rPr>
              <a:t>S13–S14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2788920" y="47548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11827"/>
                </a:solidFill>
              </a:rPr>
              <a:t>Dashboard, Kanban, evaluación y cierre técnico · 19 pts</a:t>
            </a:r>
            <a:endParaRPr lang="en-US" sz="970" dirty="0"/>
          </a:p>
        </p:txBody>
      </p:sp>
      <p:sp>
        <p:nvSpPr>
          <p:cNvPr id="34" name="Text 31"/>
          <p:cNvSpPr/>
          <p:nvPr/>
        </p:nvSpPr>
        <p:spPr>
          <a:xfrm>
            <a:off x="9006840" y="4736592"/>
            <a:ext cx="1097280" cy="228600"/>
          </a:xfrm>
          <a:prstGeom prst="rect">
            <a:avLst/>
          </a:prstGeom>
          <a:solidFill>
            <a:srgbClr val="F0F2F4"/>
          </a:solidFill>
          <a:ln>
            <a:solidFill>
              <a:srgbClr val="BF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Planificado</a:t>
            </a:r>
            <a:endParaRPr lang="en-US" sz="850" dirty="0"/>
          </a:p>
        </p:txBody>
      </p:sp>
      <p:graphicFrame>
        <p:nvGraphicFramePr>
          <p:cNvPr id="35" name="Chart 0"/>
          <p:cNvGraphicFramePr/>
          <p:nvPr/>
        </p:nvGraphicFramePr>
        <p:xfrm>
          <a:off x="731520" y="5486400"/>
          <a:ext cx="5120640" cy="777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6" name="Text 32"/>
          <p:cNvSpPr/>
          <p:nvPr/>
        </p:nvSpPr>
        <p:spPr>
          <a:xfrm>
            <a:off x="6217920" y="55778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A63"/>
                </a:solidFill>
              </a:rPr>
              <a:t>Reparto por esfuerzo: promedio 19,75 puntos por sprint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6217920" y="58978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0"/>
                </a:solidFill>
              </a:rPr>
              <a:t>El roadmap ya no se reparte por épica, sino por prioridad, dependencias y capacidad.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66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46304" y="0"/>
            <a:ext cx="164592" cy="384048"/>
          </a:xfrm>
          <a:prstGeom prst="rect">
            <a:avLst/>
          </a:prstGeom>
          <a:solidFill>
            <a:srgbClr val="2D66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 priorizado y alcance del MVP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987552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backlog definitivo funciona como fuente maestra para Jira, roadmap y Sprint Planning.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822960" cy="45720"/>
          </a:xfrm>
          <a:prstGeom prst="rect">
            <a:avLst/>
          </a:prstGeom>
          <a:solidFill>
            <a:srgbClr val="2D66C3"/>
          </a:solidFill>
          <a:ln w="12700">
            <a:solidFill>
              <a:srgbClr val="2D66C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7" name="Image 0" descr="/mnt/data/duoc_media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247" y="155448"/>
            <a:ext cx="1005840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565392"/>
            <a:ext cx="4754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A8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Escuela de Informática y Telecomunicaciones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11475720" y="6501384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7A8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8580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63"/>
                </a:solidFill>
              </a:rPr>
              <a:t>Épicas del producto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58952" y="1901952"/>
            <a:ext cx="384048" cy="256032"/>
          </a:xfrm>
          <a:prstGeom prst="rect">
            <a:avLst/>
          </a:prstGeom>
          <a:solidFill>
            <a:srgbClr val="2D66C3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234440" y="1901952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11827"/>
                </a:solidFill>
              </a:rPr>
              <a:t>Acceso y usuarios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3611880" y="1901952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</a:rPr>
              <a:t>login, sesión, roles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58952" y="2432304"/>
            <a:ext cx="384048" cy="256032"/>
          </a:xfrm>
          <a:prstGeom prst="rect">
            <a:avLst/>
          </a:prstGeom>
          <a:solidFill>
            <a:srgbClr val="2D66C3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234440" y="2432304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11827"/>
                </a:solidFill>
              </a:rPr>
              <a:t>Gestión de tickets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3611880" y="2432304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</a:rPr>
              <a:t>ciclo completo del ticket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58952" y="2962656"/>
            <a:ext cx="384048" cy="256032"/>
          </a:xfrm>
          <a:prstGeom prst="rect">
            <a:avLst/>
          </a:prstGeom>
          <a:solidFill>
            <a:srgbClr val="2D66C3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234440" y="2962656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11827"/>
                </a:solidFill>
              </a:rPr>
              <a:t>Clasificación inteligente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3611880" y="2962656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</a:rPr>
              <a:t>categoría y prioridad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58952" y="3493008"/>
            <a:ext cx="384048" cy="256032"/>
          </a:xfrm>
          <a:prstGeom prst="rect">
            <a:avLst/>
          </a:prstGeom>
          <a:solidFill>
            <a:srgbClr val="2D66C3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E4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234440" y="3493008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11827"/>
                </a:solidFill>
              </a:rPr>
              <a:t>Supervisión y dashboard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3611880" y="3493008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</a:rPr>
              <a:t>filtros, KPIs, tablero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58952" y="4023360"/>
            <a:ext cx="384048" cy="256032"/>
          </a:xfrm>
          <a:prstGeom prst="rect">
            <a:avLst/>
          </a:prstGeom>
          <a:solidFill>
            <a:srgbClr val="2D66C3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234440" y="4023360"/>
            <a:ext cx="1993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11827"/>
                </a:solidFill>
              </a:rPr>
              <a:t>Configuración y mejora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3611880" y="402336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0"/>
                </a:solidFill>
              </a:rPr>
              <a:t>categorías y evaluación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40080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63"/>
                </a:solidFill>
              </a:rPr>
              <a:t>Historias por sprint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6400800" y="1892808"/>
            <a:ext cx="411480" cy="246888"/>
          </a:xfrm>
          <a:prstGeom prst="rect">
            <a:avLst/>
          </a:prstGeom>
          <a:solidFill>
            <a:srgbClr val="2D66C3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S1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903720" y="1892808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5 HU · 21 pts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641080" y="1874520"/>
            <a:ext cx="1097280" cy="228600"/>
          </a:xfrm>
          <a:prstGeom prst="rect">
            <a:avLst/>
          </a:prstGeom>
          <a:solidFill>
            <a:srgbClr val="E7F7EE"/>
          </a:solidFill>
          <a:ln>
            <a:solidFill>
              <a:srgbClr val="BF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verificadas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400800" y="2459736"/>
            <a:ext cx="411480" cy="246888"/>
          </a:xfrm>
          <a:prstGeom prst="rect">
            <a:avLst/>
          </a:prstGeom>
          <a:solidFill>
            <a:srgbClr val="2D66C3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S2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903720" y="2459736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6 HU · 20 pts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641080" y="2441448"/>
            <a:ext cx="1097280" cy="228600"/>
          </a:xfrm>
          <a:prstGeom prst="rect">
            <a:avLst/>
          </a:prstGeom>
          <a:solidFill>
            <a:srgbClr val="F0F2F4"/>
          </a:solidFill>
          <a:ln>
            <a:solidFill>
              <a:srgbClr val="BF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6400800" y="3026664"/>
            <a:ext cx="411480" cy="246888"/>
          </a:xfrm>
          <a:prstGeom prst="rect">
            <a:avLst/>
          </a:prstGeom>
          <a:solidFill>
            <a:srgbClr val="2D66C3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S3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903720" y="302666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5 HU · 19 pts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8641080" y="3008376"/>
            <a:ext cx="1097280" cy="228600"/>
          </a:xfrm>
          <a:prstGeom prst="rect">
            <a:avLst/>
          </a:prstGeom>
          <a:solidFill>
            <a:srgbClr val="F0F2F4"/>
          </a:solidFill>
          <a:ln>
            <a:solidFill>
              <a:srgbClr val="BF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planificado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400800" y="3593592"/>
            <a:ext cx="411480" cy="246888"/>
          </a:xfrm>
          <a:prstGeom prst="rect">
            <a:avLst/>
          </a:prstGeom>
          <a:solidFill>
            <a:srgbClr val="2D66C3"/>
          </a:solidFill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S4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903720" y="3593592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5 HU · 19 pts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8641080" y="3575304"/>
            <a:ext cx="1097280" cy="228600"/>
          </a:xfrm>
          <a:prstGeom prst="rect">
            <a:avLst/>
          </a:prstGeom>
          <a:solidFill>
            <a:srgbClr val="F0F2F4"/>
          </a:solidFill>
          <a:ln>
            <a:solidFill>
              <a:srgbClr val="BF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planificado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85800" y="48006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A63"/>
                </a:solidFill>
              </a:rPr>
              <a:t>Criterios de calidad del backlog</a:t>
            </a:r>
            <a:endParaRPr lang="en-US" sz="1350" dirty="0"/>
          </a:p>
        </p:txBody>
      </p:sp>
      <p:sp>
        <p:nvSpPr>
          <p:cNvPr id="40" name="Text 37"/>
          <p:cNvSpPr/>
          <p:nvPr/>
        </p:nvSpPr>
        <p:spPr>
          <a:xfrm>
            <a:off x="749808" y="5175504"/>
            <a:ext cx="4846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Prioridad estricta 1–21</a:t>
            </a:r>
            <a:endParaRPr lang="en-US" sz="1030" dirty="0"/>
          </a:p>
        </p:txBody>
      </p:sp>
      <p:sp>
        <p:nvSpPr>
          <p:cNvPr id="41" name="Text 38"/>
          <p:cNvSpPr/>
          <p:nvPr/>
        </p:nvSpPr>
        <p:spPr>
          <a:xfrm>
            <a:off x="749808" y="5468112"/>
            <a:ext cx="4846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Esfuerzo XS=1, S=3, M=5, L=7, XL=9</a:t>
            </a:r>
            <a:endParaRPr lang="en-US" sz="1030" dirty="0"/>
          </a:p>
        </p:txBody>
      </p:sp>
      <p:sp>
        <p:nvSpPr>
          <p:cNvPr id="42" name="Text 39"/>
          <p:cNvSpPr/>
          <p:nvPr/>
        </p:nvSpPr>
        <p:spPr>
          <a:xfrm>
            <a:off x="749808" y="5760720"/>
            <a:ext cx="4846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Dependencias explícitas</a:t>
            </a:r>
            <a:endParaRPr lang="en-US" sz="1030" dirty="0"/>
          </a:p>
        </p:txBody>
      </p:sp>
      <p:sp>
        <p:nvSpPr>
          <p:cNvPr id="43" name="Text 40"/>
          <p:cNvSpPr/>
          <p:nvPr/>
        </p:nvSpPr>
        <p:spPr>
          <a:xfrm>
            <a:off x="749808" y="6053328"/>
            <a:ext cx="4846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MVP marcado por HU</a:t>
            </a:r>
            <a:endParaRPr lang="en-US" sz="1030" dirty="0"/>
          </a:p>
        </p:txBody>
      </p:sp>
      <p:sp>
        <p:nvSpPr>
          <p:cNvPr id="44" name="Text 41"/>
          <p:cNvSpPr/>
          <p:nvPr/>
        </p:nvSpPr>
        <p:spPr>
          <a:xfrm>
            <a:off x="749808" y="6345936"/>
            <a:ext cx="4846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Criterios de aceptación medibles</a:t>
            </a:r>
            <a:endParaRPr lang="en-US" sz="1030" dirty="0"/>
          </a:p>
        </p:txBody>
      </p:sp>
      <p:sp>
        <p:nvSpPr>
          <p:cNvPr id="45" name="Text 42"/>
          <p:cNvSpPr/>
          <p:nvPr/>
        </p:nvSpPr>
        <p:spPr>
          <a:xfrm>
            <a:off x="6400800" y="4800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A63"/>
                </a:solidFill>
              </a:rPr>
              <a:t>Validación actual</a:t>
            </a:r>
            <a:endParaRPr lang="en-US" sz="1350" dirty="0"/>
          </a:p>
        </p:txBody>
      </p:sp>
      <p:sp>
        <p:nvSpPr>
          <p:cNvPr id="46" name="Text 43"/>
          <p:cNvSpPr/>
          <p:nvPr/>
        </p:nvSpPr>
        <p:spPr>
          <a:xfrm>
            <a:off x="6400800" y="5166360"/>
            <a:ext cx="4297680" cy="658368"/>
          </a:xfrm>
          <a:prstGeom prst="rect">
            <a:avLst/>
          </a:prstGeom>
          <a:solidFill>
            <a:srgbClr val="F7F9FC"/>
          </a:solidFill>
          <a:ln>
            <a:solidFill>
              <a:srgbClr val="E4EAF3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Sprint 1 cerró las primeras 5 HU y habilitó el bloque de tickets del Sprint 2. HU-21 se adelantó porque categorías alimentan IA y dashboard.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media/ppt/media/image5.jpg"/>
          <p:cNvPicPr>
            <a:picLocks noChangeAspect="1"/>
          </p:cNvPicPr>
          <p:nvPr/>
        </p:nvPicPr>
        <p:blipFill>
          <a:blip r:embed="rId3"/>
          <a:srcRect l="1" r="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1"/>
          <p:cNvSpPr/>
          <p:nvPr/>
        </p:nvSpPr>
        <p:spPr>
          <a:xfrm>
            <a:off x="502920" y="2743200"/>
            <a:ext cx="1005840" cy="658368"/>
          </a:xfrm>
          <a:prstGeom prst="rect">
            <a:avLst/>
          </a:prstGeom>
          <a:solidFill>
            <a:srgbClr val="2D66C3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1572768" y="2496312"/>
            <a:ext cx="4023360" cy="1143000"/>
          </a:xfrm>
          <a:prstGeom prst="rect">
            <a:avLst/>
          </a:prstGeom>
          <a:solidFill>
            <a:srgbClr val="2B2B2B">
              <a:alpha val="84000"/>
            </a:srgbClr>
          </a:solidFill>
          <a:ln w="12700">
            <a:solidFill>
              <a:srgbClr val="2B2B2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1828800" y="27889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Evidencias de avance</a:t>
            </a:r>
            <a:endParaRPr lang="en-US" sz="1800" dirty="0"/>
          </a:p>
        </p:txBody>
      </p:sp>
      <p:pic>
        <p:nvPicPr>
          <p:cNvPr id="7" name="Image 1" descr="/mnt/data/duoc_media/word/media/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3247" y="155448"/>
            <a:ext cx="1005840" cy="2468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920" y="6565392"/>
            <a:ext cx="4754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A8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Escuela de Informática y Telecomunicaciones</a:t>
            </a:r>
            <a:endParaRPr lang="en-US" sz="580" dirty="0"/>
          </a:p>
        </p:txBody>
      </p:sp>
      <p:sp>
        <p:nvSpPr>
          <p:cNvPr id="9" name="Text 5"/>
          <p:cNvSpPr/>
          <p:nvPr/>
        </p:nvSpPr>
        <p:spPr>
          <a:xfrm>
            <a:off x="11475720" y="6501384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7A8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66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46304" y="0"/>
            <a:ext cx="164592" cy="384048"/>
          </a:xfrm>
          <a:prstGeom prst="rect">
            <a:avLst/>
          </a:prstGeom>
          <a:solidFill>
            <a:srgbClr val="2D66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1: compromiso y resultado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987552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verificaron historias clave de acceso, usuarios, categorías y creación de tickets.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822960" cy="45720"/>
          </a:xfrm>
          <a:prstGeom prst="rect">
            <a:avLst/>
          </a:prstGeom>
          <a:solidFill>
            <a:srgbClr val="2D66C3"/>
          </a:solidFill>
          <a:ln w="12700">
            <a:solidFill>
              <a:srgbClr val="2D66C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7" name="Image 0" descr="/mnt/data/duoc_media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247" y="155448"/>
            <a:ext cx="1005840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565392"/>
            <a:ext cx="4754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A8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Escuela de Informática y Telecomunicaciones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11475720" y="6501384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7A8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50" dirty="0"/>
          </a:p>
        </p:txBody>
      </p:sp>
      <p:pic>
        <p:nvPicPr>
          <p:cNvPr id="10" name="Image 1" descr="/mnt/data/image(3).png"/>
          <p:cNvPicPr>
            <a:picLocks noChangeAspect="1"/>
          </p:cNvPicPr>
          <p:nvPr/>
        </p:nvPicPr>
        <p:blipFill>
          <a:blip r:embed="rId4"/>
          <a:srcRect l="13303" r="13303"/>
          <a:stretch/>
        </p:blipFill>
        <p:spPr>
          <a:xfrm>
            <a:off x="566928" y="1481328"/>
            <a:ext cx="5577840" cy="2423160"/>
          </a:xfrm>
          <a:prstGeom prst="rect">
            <a:avLst/>
          </a:prstGeom>
        </p:spPr>
      </p:pic>
      <p:pic>
        <p:nvPicPr>
          <p:cNvPr id="11" name="Image 2" descr="/mnt/data/image(4).png"/>
          <p:cNvPicPr>
            <a:picLocks noChangeAspect="1"/>
          </p:cNvPicPr>
          <p:nvPr/>
        </p:nvPicPr>
        <p:blipFill>
          <a:blip r:embed="rId5"/>
          <a:srcRect t="9406" b="9406"/>
          <a:stretch/>
        </p:blipFill>
        <p:spPr>
          <a:xfrm>
            <a:off x="566928" y="4096512"/>
            <a:ext cx="5577840" cy="1417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080" y="56509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A63"/>
                </a:solidFill>
              </a:rPr>
              <a:t>Estado en Jira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40080" y="589788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470"/>
                </a:solidFill>
              </a:rPr>
              <a:t>5 historias y subtareas visibles en estado Finalizada / 100 % completado.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6492240" y="1508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63"/>
                </a:solidFill>
              </a:rPr>
              <a:t>Resultados del Sprint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492240" y="19019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6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6492240" y="23134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historias verificadas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8458200" y="190195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66C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15/15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8458200" y="23134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criterios de aceptación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6492240" y="29992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A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79/79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6492240" y="34107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 aprobadas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8458200" y="29992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A4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71%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8458200" y="341071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de código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6492240" y="42245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A63"/>
                </a:solidFill>
              </a:rPr>
              <a:t>Historias cerradas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510528" y="4599432"/>
            <a:ext cx="4572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HU-01 Iniciar sesión según rol</a:t>
            </a:r>
            <a:endParaRPr lang="en-US" sz="1030" dirty="0"/>
          </a:p>
        </p:txBody>
      </p:sp>
      <p:sp>
        <p:nvSpPr>
          <p:cNvPr id="25" name="Text 20"/>
          <p:cNvSpPr/>
          <p:nvPr/>
        </p:nvSpPr>
        <p:spPr>
          <a:xfrm>
            <a:off x="6510528" y="4901184"/>
            <a:ext cx="4572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HU-02 Cerrar sesión y proteger acceso</a:t>
            </a:r>
            <a:endParaRPr lang="en-US" sz="1030" dirty="0"/>
          </a:p>
        </p:txBody>
      </p:sp>
      <p:sp>
        <p:nvSpPr>
          <p:cNvPr id="26" name="Text 21"/>
          <p:cNvSpPr/>
          <p:nvPr/>
        </p:nvSpPr>
        <p:spPr>
          <a:xfrm>
            <a:off x="6510528" y="5202936"/>
            <a:ext cx="4572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HU-03 Administrar cuentas y roles</a:t>
            </a:r>
            <a:endParaRPr lang="en-US" sz="1030" dirty="0"/>
          </a:p>
        </p:txBody>
      </p:sp>
      <p:sp>
        <p:nvSpPr>
          <p:cNvPr id="27" name="Text 22"/>
          <p:cNvSpPr/>
          <p:nvPr/>
        </p:nvSpPr>
        <p:spPr>
          <a:xfrm>
            <a:off x="6510528" y="5504688"/>
            <a:ext cx="4572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HU-21 Administrar categorías</a:t>
            </a:r>
            <a:endParaRPr lang="en-US" sz="1030" dirty="0"/>
          </a:p>
        </p:txBody>
      </p:sp>
      <p:sp>
        <p:nvSpPr>
          <p:cNvPr id="28" name="Text 23"/>
          <p:cNvSpPr/>
          <p:nvPr/>
        </p:nvSpPr>
        <p:spPr>
          <a:xfrm>
            <a:off x="6510528" y="5806440"/>
            <a:ext cx="4572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HU-04 Crear ticket con adjuntos</a:t>
            </a:r>
            <a:endParaRPr lang="en-US" sz="10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66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46304" y="0"/>
            <a:ext cx="164592" cy="384048"/>
          </a:xfrm>
          <a:prstGeom prst="rect">
            <a:avLst/>
          </a:prstGeom>
          <a:solidFill>
            <a:srgbClr val="2D66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Evidencias funcionales implementadas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987552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incremento ya muestra pantallas reales de la aplicación Flask conectada a PostgreSQL.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822960" cy="45720"/>
          </a:xfrm>
          <a:prstGeom prst="rect">
            <a:avLst/>
          </a:prstGeom>
          <a:solidFill>
            <a:srgbClr val="2D66C3"/>
          </a:solidFill>
          <a:ln w="12700">
            <a:solidFill>
              <a:srgbClr val="2D66C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7" name="Image 0" descr="/mnt/data/duoc_media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247" y="155448"/>
            <a:ext cx="1005840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565392"/>
            <a:ext cx="4754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A8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Escuela de Informática y Telecomunicaciones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11475720" y="6501384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7A8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50" dirty="0"/>
          </a:p>
        </p:txBody>
      </p:sp>
      <p:pic>
        <p:nvPicPr>
          <p:cNvPr id="10" name="Image 1" descr="/mnt/data/ticketia_pg/docs/capturas_sprint1/01_login.png"/>
          <p:cNvPicPr>
            <a:picLocks noChangeAspect="1"/>
          </p:cNvPicPr>
          <p:nvPr/>
        </p:nvPicPr>
        <p:blipFill>
          <a:blip r:embed="rId4"/>
          <a:srcRect t="1097" b="1097"/>
          <a:stretch/>
        </p:blipFill>
        <p:spPr>
          <a:xfrm>
            <a:off x="640080" y="1508760"/>
            <a:ext cx="2240280" cy="1554480"/>
          </a:xfrm>
          <a:prstGeom prst="rect">
            <a:avLst/>
          </a:prstGeom>
        </p:spPr>
      </p:pic>
      <p:pic>
        <p:nvPicPr>
          <p:cNvPr id="11" name="Image 2" descr="/mnt/data/ticketia_pg/docs/capturas_sprint1/03_panel_administrador.png"/>
          <p:cNvPicPr>
            <a:picLocks noChangeAspect="1"/>
          </p:cNvPicPr>
          <p:nvPr/>
        </p:nvPicPr>
        <p:blipFill>
          <a:blip r:embed="rId5"/>
          <a:srcRect t="7482" b="7482"/>
          <a:stretch/>
        </p:blipFill>
        <p:spPr>
          <a:xfrm>
            <a:off x="3063240" y="1508760"/>
            <a:ext cx="2240280" cy="1554480"/>
          </a:xfrm>
          <a:prstGeom prst="rect">
            <a:avLst/>
          </a:prstGeom>
        </p:spPr>
      </p:pic>
      <p:pic>
        <p:nvPicPr>
          <p:cNvPr id="12" name="Image 3" descr="/mnt/data/ticketia_pg/docs/capturas_sprint1/04_usuarios_con_selector_de_rol.png"/>
          <p:cNvPicPr>
            <a:picLocks noChangeAspect="1"/>
          </p:cNvPicPr>
          <p:nvPr/>
        </p:nvPicPr>
        <p:blipFill>
          <a:blip r:embed="rId6"/>
          <a:srcRect l="3589" r="3589"/>
          <a:stretch/>
        </p:blipFill>
        <p:spPr>
          <a:xfrm>
            <a:off x="5486400" y="1508760"/>
            <a:ext cx="2240280" cy="1554480"/>
          </a:xfrm>
          <a:prstGeom prst="rect">
            <a:avLst/>
          </a:prstGeom>
        </p:spPr>
      </p:pic>
      <p:pic>
        <p:nvPicPr>
          <p:cNvPr id="13" name="Image 4" descr="/mnt/data/ticketia_pg/docs/capturas_sprint1/09_categoria_creada.png"/>
          <p:cNvPicPr>
            <a:picLocks noChangeAspect="1"/>
          </p:cNvPicPr>
          <p:nvPr/>
        </p:nvPicPr>
        <p:blipFill>
          <a:blip r:embed="rId7"/>
          <a:srcRect l="3589" r="3589"/>
          <a:stretch/>
        </p:blipFill>
        <p:spPr>
          <a:xfrm>
            <a:off x="7909560" y="1508760"/>
            <a:ext cx="2240280" cy="1554480"/>
          </a:xfrm>
          <a:prstGeom prst="rect">
            <a:avLst/>
          </a:prstGeom>
        </p:spPr>
      </p:pic>
      <p:pic>
        <p:nvPicPr>
          <p:cNvPr id="14" name="Image 5" descr="/mnt/data/ticketia_pg/docs/capturas_sprint1/17_ticket_creado_estado_pendiente_con_adjunto.png"/>
          <p:cNvPicPr>
            <a:picLocks noChangeAspect="1"/>
          </p:cNvPicPr>
          <p:nvPr/>
        </p:nvPicPr>
        <p:blipFill>
          <a:blip r:embed="rId8"/>
          <a:srcRect t="21891" b="21891"/>
          <a:stretch/>
        </p:blipFill>
        <p:spPr>
          <a:xfrm>
            <a:off x="640080" y="3520440"/>
            <a:ext cx="4663440" cy="1920240"/>
          </a:xfrm>
          <a:prstGeom prst="rect">
            <a:avLst/>
          </a:prstGeom>
        </p:spPr>
      </p:pic>
      <p:pic>
        <p:nvPicPr>
          <p:cNvPr id="15" name="Image 6" descr="/mnt/data/ticketia_pg/docs/capturas_sprint1/18_adjunto_no_permitido_rechazado.png"/>
          <p:cNvPicPr>
            <a:picLocks noChangeAspect="1"/>
          </p:cNvPicPr>
          <p:nvPr/>
        </p:nvPicPr>
        <p:blipFill>
          <a:blip r:embed="rId9"/>
          <a:srcRect t="21845" b="21845"/>
          <a:stretch/>
        </p:blipFill>
        <p:spPr>
          <a:xfrm>
            <a:off x="5486400" y="3520440"/>
            <a:ext cx="4663440" cy="192024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685800" y="56509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3A63"/>
                </a:solidFill>
              </a:rPr>
              <a:t>Flujos evidenciados</a:t>
            </a:r>
            <a:endParaRPr lang="en-US" sz="1100" dirty="0"/>
          </a:p>
        </p:txBody>
      </p:sp>
      <p:sp>
        <p:nvSpPr>
          <p:cNvPr id="17" name="Text 8"/>
          <p:cNvSpPr/>
          <p:nvPr/>
        </p:nvSpPr>
        <p:spPr>
          <a:xfrm>
            <a:off x="685800" y="5897880"/>
            <a:ext cx="8961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5B6470"/>
                </a:solidFill>
              </a:rPr>
              <a:t>Login por rol · panel admin · gestión de usuarios · categorías · ticket con adjunto · validaciones de error.</a:t>
            </a:r>
            <a:endParaRPr lang="en-US" sz="9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66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46304" y="0"/>
            <a:ext cx="164592" cy="384048"/>
          </a:xfrm>
          <a:prstGeom prst="rect">
            <a:avLst/>
          </a:prstGeom>
          <a:solidFill>
            <a:srgbClr val="2D66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Resguardo de calidad disciplinar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987552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pruebas no solo verificaron el producto: también generaron mejoras sobre el código.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822960" cy="45720"/>
          </a:xfrm>
          <a:prstGeom prst="rect">
            <a:avLst/>
          </a:prstGeom>
          <a:solidFill>
            <a:srgbClr val="2D66C3"/>
          </a:solidFill>
          <a:ln w="12700">
            <a:solidFill>
              <a:srgbClr val="2D66C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7" name="Image 0" descr="/mnt/data/duoc_media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247" y="155448"/>
            <a:ext cx="1005840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565392"/>
            <a:ext cx="4754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A8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Escuela de Informática y Telecomunicaciones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11475720" y="6501384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7A8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640080" y="1508760"/>
          <a:ext cx="452628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5715000" y="1508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63"/>
                </a:solidFill>
              </a:rPr>
              <a:t>Pruebas por historia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715000" y="18928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HU-01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446520" y="1938528"/>
            <a:ext cx="1056132" cy="118872"/>
          </a:xfrm>
          <a:prstGeom prst="rect">
            <a:avLst/>
          </a:prstGeom>
          <a:solidFill>
            <a:srgbClr val="2D66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0"/>
          <p:cNvSpPr/>
          <p:nvPr/>
        </p:nvSpPr>
        <p:spPr>
          <a:xfrm>
            <a:off x="9646920" y="18928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0"/>
                </a:solidFill>
              </a:rPr>
              <a:t>11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715000" y="230428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HU-02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446520" y="2350008"/>
            <a:ext cx="864108" cy="118872"/>
          </a:xfrm>
          <a:prstGeom prst="rect">
            <a:avLst/>
          </a:prstGeom>
          <a:solidFill>
            <a:srgbClr val="2D66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3"/>
          <p:cNvSpPr/>
          <p:nvPr/>
        </p:nvSpPr>
        <p:spPr>
          <a:xfrm>
            <a:off x="9646920" y="230428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0"/>
                </a:solidFill>
              </a:rPr>
              <a:t>9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715000" y="271576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HU-03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446520" y="2761488"/>
            <a:ext cx="1632204" cy="118872"/>
          </a:xfrm>
          <a:prstGeom prst="rect">
            <a:avLst/>
          </a:prstGeom>
          <a:solidFill>
            <a:srgbClr val="2D66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6"/>
          <p:cNvSpPr/>
          <p:nvPr/>
        </p:nvSpPr>
        <p:spPr>
          <a:xfrm>
            <a:off x="9646920" y="271576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0"/>
                </a:solidFill>
              </a:rPr>
              <a:t>17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715000" y="312724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HU-21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446520" y="3172968"/>
            <a:ext cx="960120" cy="118872"/>
          </a:xfrm>
          <a:prstGeom prst="rect">
            <a:avLst/>
          </a:prstGeom>
          <a:solidFill>
            <a:srgbClr val="2D66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19"/>
          <p:cNvSpPr/>
          <p:nvPr/>
        </p:nvSpPr>
        <p:spPr>
          <a:xfrm>
            <a:off x="9646920" y="312724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0"/>
                </a:solidFill>
              </a:rPr>
              <a:t>10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715000" y="353872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HU-04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446520" y="3584448"/>
            <a:ext cx="3072384" cy="118872"/>
          </a:xfrm>
          <a:prstGeom prst="rect">
            <a:avLst/>
          </a:prstGeom>
          <a:solidFill>
            <a:srgbClr val="2D66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2"/>
          <p:cNvSpPr/>
          <p:nvPr/>
        </p:nvSpPr>
        <p:spPr>
          <a:xfrm>
            <a:off x="9646920" y="353872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0"/>
                </a:solidFill>
              </a:rPr>
              <a:t>32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5715000" y="4160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63"/>
                </a:solidFill>
              </a:rPr>
              <a:t>Defectos corregidos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5715000" y="4526280"/>
            <a:ext cx="5212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Sesión/roles sincronizados con BD</a:t>
            </a:r>
            <a:endParaRPr lang="en-US" sz="1030" dirty="0"/>
          </a:p>
        </p:txBody>
      </p:sp>
      <p:sp>
        <p:nvSpPr>
          <p:cNvPr id="29" name="Text 25"/>
          <p:cNvSpPr/>
          <p:nvPr/>
        </p:nvSpPr>
        <p:spPr>
          <a:xfrm>
            <a:off x="5715000" y="4818888"/>
            <a:ext cx="5212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Validación de adjuntos antes de crear ticket</a:t>
            </a:r>
            <a:endParaRPr lang="en-US" sz="1030" dirty="0"/>
          </a:p>
        </p:txBody>
      </p:sp>
      <p:sp>
        <p:nvSpPr>
          <p:cNvPr id="30" name="Text 26"/>
          <p:cNvSpPr/>
          <p:nvPr/>
        </p:nvSpPr>
        <p:spPr>
          <a:xfrm>
            <a:off x="5715000" y="5111496"/>
            <a:ext cx="5212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Límite de 10 MB corregido</a:t>
            </a:r>
            <a:endParaRPr lang="en-US" sz="1030" dirty="0"/>
          </a:p>
        </p:txBody>
      </p:sp>
      <p:sp>
        <p:nvSpPr>
          <p:cNvPr id="31" name="Text 27"/>
          <p:cNvSpPr/>
          <p:nvPr/>
        </p:nvSpPr>
        <p:spPr>
          <a:xfrm>
            <a:off x="5715000" y="5404104"/>
            <a:ext cx="5212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Manejo de error 413</a:t>
            </a:r>
            <a:endParaRPr lang="en-US" sz="1030" dirty="0"/>
          </a:p>
        </p:txBody>
      </p:sp>
      <p:sp>
        <p:nvSpPr>
          <p:cNvPr id="32" name="Text 28"/>
          <p:cNvSpPr/>
          <p:nvPr/>
        </p:nvSpPr>
        <p:spPr>
          <a:xfrm>
            <a:off x="5715000" y="5696712"/>
            <a:ext cx="52120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Categorías duplicadas sin mayúsculas/espacios</a:t>
            </a:r>
            <a:endParaRPr lang="en-US" sz="1030" dirty="0"/>
          </a:p>
        </p:txBody>
      </p:sp>
      <p:sp>
        <p:nvSpPr>
          <p:cNvPr id="33" name="Text 29"/>
          <p:cNvSpPr/>
          <p:nvPr/>
        </p:nvSpPr>
        <p:spPr>
          <a:xfrm>
            <a:off x="731520" y="5074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A63"/>
                </a:solidFill>
              </a:rPr>
              <a:t>Indicador logrado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731520" y="5394960"/>
            <a:ext cx="4114800" cy="411480"/>
          </a:xfrm>
          <a:prstGeom prst="rect">
            <a:avLst/>
          </a:prstGeom>
          <a:solidFill>
            <a:srgbClr val="E7F7EE"/>
          </a:solidFill>
          <a:ln>
            <a:solidFill>
              <a:srgbClr val="C7EBD6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Cobertura total 71 % (meta ≥ 70 %) sobre app.py, database.py y ai_classifier.py.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66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46304" y="0"/>
            <a:ext cx="164592" cy="384048"/>
          </a:xfrm>
          <a:prstGeom prst="rect">
            <a:avLst/>
          </a:prstGeom>
          <a:solidFill>
            <a:srgbClr val="2D66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datos y artefactos técnicos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987552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modelo PostgreSQL soporta usuarios, tickets, trazabilidad, adjuntos, comentarios, categorías y evaluación.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822960" cy="45720"/>
          </a:xfrm>
          <a:prstGeom prst="rect">
            <a:avLst/>
          </a:prstGeom>
          <a:solidFill>
            <a:srgbClr val="2D66C3"/>
          </a:solidFill>
          <a:ln w="12700">
            <a:solidFill>
              <a:srgbClr val="2D66C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7" name="Image 0" descr="/mnt/data/duoc_media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247" y="155448"/>
            <a:ext cx="1005840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565392"/>
            <a:ext cx="4754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A8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Escuela de Informática y Telecomunicaciones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11475720" y="6501384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7A8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50" dirty="0"/>
          </a:p>
        </p:txBody>
      </p:sp>
      <p:pic>
        <p:nvPicPr>
          <p:cNvPr id="10" name="Image 1" descr="/mnt/data/Diagrama_ER_TicketIA.png"/>
          <p:cNvPicPr>
            <a:picLocks noChangeAspect="1"/>
          </p:cNvPicPr>
          <p:nvPr/>
        </p:nvPicPr>
        <p:blipFill>
          <a:blip r:embed="rId4"/>
          <a:srcRect l="10397" r="10397"/>
          <a:stretch/>
        </p:blipFill>
        <p:spPr>
          <a:xfrm>
            <a:off x="594360" y="1417320"/>
            <a:ext cx="5989320" cy="46817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03720" y="150876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63"/>
                </a:solidFill>
              </a:rPr>
              <a:t>Artefactos construidos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903720" y="1901952"/>
            <a:ext cx="457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Modelo ER actualizado para HU-19, HU-20 y HU-21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903720" y="2340864"/>
            <a:ext cx="457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PK/FK/UQ definidos para integridad de datos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903720" y="2779776"/>
            <a:ext cx="457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Scripts PostgreSQL y schema_export.sql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903720" y="3218688"/>
            <a:ext cx="457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Dockerfile y docker-compose para despliegue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90372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Suite pytest y reportes de cobertura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903720" y="4572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A63"/>
                </a:solidFill>
              </a:rPr>
              <a:t>Decisión técnica clave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903720" y="4919472"/>
            <a:ext cx="4434840" cy="658368"/>
          </a:xfrm>
          <a:prstGeom prst="rect">
            <a:avLst/>
          </a:prstGeom>
          <a:solidFill>
            <a:srgbClr val="F7F9FC"/>
          </a:solidFill>
          <a:ln>
            <a:solidFill>
              <a:srgbClr val="E4EAF3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111827"/>
                </a:solidFill>
              </a:rPr>
              <a:t>PostgreSQL permite mantener consistencia relacional entre tickets, usuarios, categorías, comentarios, historial, adjuntos y evaluaciones. La separación de tablas facilita trazabilidad y futuras métricas del dashboard.</a:t>
            </a:r>
            <a:endParaRPr lang="en-US" sz="10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66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46304" y="0"/>
            <a:ext cx="164592" cy="384048"/>
          </a:xfrm>
          <a:prstGeom prst="rect">
            <a:avLst/>
          </a:prstGeom>
          <a:solidFill>
            <a:srgbClr val="2D66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Monitoreo del plan y ajustes aplicados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987552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incorporaron ajustes de alcance, metodología y control de calidad a partir de la fase de avance.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822960" cy="45720"/>
          </a:xfrm>
          <a:prstGeom prst="rect">
            <a:avLst/>
          </a:prstGeom>
          <a:solidFill>
            <a:srgbClr val="2D66C3"/>
          </a:solidFill>
          <a:ln w="12700">
            <a:solidFill>
              <a:srgbClr val="2D66C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7" name="Image 0" descr="/mnt/data/duoc_media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247" y="155448"/>
            <a:ext cx="1005840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565392"/>
            <a:ext cx="4754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A8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Escuela de Informática y Telecomunicaciones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11475720" y="6501384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7A8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8580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63"/>
                </a:solidFill>
              </a:rPr>
              <a:t>Estado de actividades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31520" y="19019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Product Backlog definitivo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160520" y="1883664"/>
            <a:ext cx="1143000" cy="228600"/>
          </a:xfrm>
          <a:prstGeom prst="rect">
            <a:avLst/>
          </a:prstGeom>
          <a:solidFill>
            <a:srgbClr val="E7F7EE"/>
          </a:solidFill>
          <a:ln>
            <a:solidFill>
              <a:srgbClr val="BF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Completado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31520" y="23134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Sprint 1 funcional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160520" y="2295144"/>
            <a:ext cx="1143000" cy="228600"/>
          </a:xfrm>
          <a:prstGeom prst="rect">
            <a:avLst/>
          </a:prstGeom>
          <a:solidFill>
            <a:srgbClr val="E7F7EE"/>
          </a:solidFill>
          <a:ln>
            <a:solidFill>
              <a:srgbClr val="BF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Completado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31520" y="27249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Pruebas Sprint 1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160520" y="2706624"/>
            <a:ext cx="1143000" cy="228600"/>
          </a:xfrm>
          <a:prstGeom prst="rect">
            <a:avLst/>
          </a:prstGeom>
          <a:solidFill>
            <a:srgbClr val="E7F7EE"/>
          </a:solidFill>
          <a:ln>
            <a:solidFill>
              <a:srgbClr val="BF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Completado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31520" y="31363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Sprint 2 gestión tickets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160520" y="3118104"/>
            <a:ext cx="1143000" cy="228600"/>
          </a:xfrm>
          <a:prstGeom prst="rect">
            <a:avLst/>
          </a:prstGeom>
          <a:solidFill>
            <a:srgbClr val="FFF4DD"/>
          </a:solidFill>
          <a:ln>
            <a:solidFill>
              <a:srgbClr val="BF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curso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31520" y="35478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IA / Dashboard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160520" y="3529584"/>
            <a:ext cx="1143000" cy="228600"/>
          </a:xfrm>
          <a:prstGeom prst="rect">
            <a:avLst/>
          </a:prstGeom>
          <a:solidFill>
            <a:srgbClr val="F0F2F4"/>
          </a:solidFill>
          <a:ln>
            <a:solidFill>
              <a:srgbClr val="BF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Planificado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31520" y="39593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</a:rPr>
              <a:t>Docker y cierre técnico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160520" y="3941064"/>
            <a:ext cx="1143000" cy="228600"/>
          </a:xfrm>
          <a:prstGeom prst="rect">
            <a:avLst/>
          </a:prstGeom>
          <a:solidFill>
            <a:srgbClr val="F0F2F4"/>
          </a:solidFill>
          <a:ln>
            <a:solidFill>
              <a:srgbClr val="BFD7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3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Planificado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98932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63"/>
                </a:solidFill>
              </a:rPr>
              <a:t>Ajustes realizados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989320" y="1892808"/>
            <a:ext cx="5029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Metodología ajustada a Scrumban con Jira.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989320" y="2286000"/>
            <a:ext cx="5029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Ejecución reducida a 4 sprints balanceados por esfuerzo.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989320" y="2679192"/>
            <a:ext cx="5029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Backlog priorizado 1–21 con puntos XS/S/M/L/XL.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5989320" y="3072384"/>
            <a:ext cx="5029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Definition of Done reforzada con pruebas y evidencia.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989320" y="3465576"/>
            <a:ext cx="5029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Pruebas automatizadas integradas como estándar técnico.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989320" y="4663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A63"/>
                </a:solidFill>
              </a:rPr>
              <a:t>Plan de acción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989320" y="4983480"/>
            <a:ext cx="4846320" cy="658368"/>
          </a:xfrm>
          <a:prstGeom prst="rect">
            <a:avLst/>
          </a:prstGeom>
          <a:solidFill>
            <a:srgbClr val="F7F9FC"/>
          </a:solidFill>
          <a:ln>
            <a:solidFill>
              <a:srgbClr val="E4EAF3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</a:rPr>
              <a:t>Sprint 2 debe iniciar con subtareas cargadas en Jira, pruebas junto al desarrollo y commits trazables de cada integrante. La IA se trabajará desde Sprint 3 con clasificación inicial y posterior validación.</a:t>
            </a:r>
            <a:endParaRPr lang="en-US" sz="10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66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46304" y="0"/>
            <a:ext cx="164592" cy="384048"/>
          </a:xfrm>
          <a:prstGeom prst="rect">
            <a:avLst/>
          </a:prstGeom>
          <a:solidFill>
            <a:srgbClr val="2D66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de calidad y trabajo en equipo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987552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avance evidencia competencias de desarrollo, datos, pruebas y gestión de proyectos.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822960" cy="45720"/>
          </a:xfrm>
          <a:prstGeom prst="rect">
            <a:avLst/>
          </a:prstGeom>
          <a:solidFill>
            <a:srgbClr val="2D66C3"/>
          </a:solidFill>
          <a:ln w="12700">
            <a:solidFill>
              <a:srgbClr val="2D66C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7" name="Image 0" descr="/mnt/data/duoc_media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247" y="155448"/>
            <a:ext cx="1005840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565392"/>
            <a:ext cx="4754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A8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Escuela de Informática y Telecomunicaciones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11475720" y="6501384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7A8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85800" y="15087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63"/>
                </a:solidFill>
              </a:rPr>
              <a:t>Competencias evidenciadas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49808" y="190195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Pruebas de certificación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971800" y="19019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470"/>
                </a:solidFill>
              </a:rPr>
              <a:t>79 pruebas, 15/15 CA y corrección de 6 defectos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" y="256946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Gestión de proyectos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971800" y="25694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470"/>
                </a:solidFill>
              </a:rPr>
              <a:t>Scrumban, Jira, roadmap, ceremonies y monitoreo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49808" y="323697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Modelos de datos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971800" y="32369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470"/>
                </a:solidFill>
              </a:rPr>
              <a:t>ERD PostgreSQL con relaciones, restricciones e índices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49808" y="390448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</a:rPr>
              <a:t>Software e integración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971800" y="39044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470"/>
                </a:solidFill>
              </a:rPr>
              <a:t>Flask + PostgreSQL + pytest + Docker planificado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9516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63"/>
                </a:solidFill>
              </a:rPr>
              <a:t>Aporte por integrante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040880" y="192024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6C3"/>
                </a:solidFill>
              </a:rPr>
              <a:t>Jade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092440" y="19202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Product Owner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092440" y="21762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B6470"/>
                </a:solidFill>
              </a:rPr>
              <a:t>priorización, seguimiento y evidencias</a:t>
            </a:r>
            <a:endParaRPr lang="en-US" sz="920" dirty="0"/>
          </a:p>
        </p:txBody>
      </p:sp>
      <p:sp>
        <p:nvSpPr>
          <p:cNvPr id="23" name="Text 20"/>
          <p:cNvSpPr/>
          <p:nvPr/>
        </p:nvSpPr>
        <p:spPr>
          <a:xfrm>
            <a:off x="7040880" y="274320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6C3"/>
                </a:solidFill>
              </a:rPr>
              <a:t>Kiara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092440" y="27432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Scrum Master / Backend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092440" y="29992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B6470"/>
                </a:solidFill>
              </a:rPr>
              <a:t>usuarios, categorías, BD y configuración de pruebas</a:t>
            </a:r>
            <a:endParaRPr lang="en-US" sz="920" dirty="0"/>
          </a:p>
        </p:txBody>
      </p:sp>
      <p:sp>
        <p:nvSpPr>
          <p:cNvPr id="26" name="Text 23"/>
          <p:cNvSpPr/>
          <p:nvPr/>
        </p:nvSpPr>
        <p:spPr>
          <a:xfrm>
            <a:off x="7040880" y="3566160"/>
            <a:ext cx="804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6C3"/>
                </a:solidFill>
              </a:rPr>
              <a:t>David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092440" y="35661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</a:rPr>
              <a:t>Programador / QA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8092440" y="38221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dirty="0">
                <a:solidFill>
                  <a:srgbClr val="5B6470"/>
                </a:solidFill>
              </a:rPr>
              <a:t>HU-01, HU-02, HU-04; pruebas y validación</a:t>
            </a:r>
            <a:endParaRPr lang="en-US" sz="920" dirty="0"/>
          </a:p>
        </p:txBody>
      </p:sp>
      <p:sp>
        <p:nvSpPr>
          <p:cNvPr id="29" name="Text 26"/>
          <p:cNvSpPr/>
          <p:nvPr/>
        </p:nvSpPr>
        <p:spPr>
          <a:xfrm>
            <a:off x="6995160" y="4663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A63"/>
                </a:solidFill>
              </a:rPr>
              <a:t>Evidencia de equidad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995160" y="4983480"/>
            <a:ext cx="4251960" cy="566928"/>
          </a:xfrm>
          <a:prstGeom prst="rect">
            <a:avLst/>
          </a:prstGeom>
          <a:solidFill>
            <a:srgbClr val="F7F9FC"/>
          </a:solidFill>
          <a:ln>
            <a:solidFill>
              <a:srgbClr val="E4EAF3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111827"/>
                </a:solidFill>
              </a:rPr>
              <a:t>Sprint 1 distribuyó 21 puntos: David 11, Kiara 10 y Jade a cargo de priorización y control. En Jira las historias quedan visibles por responsable y subtareas.</a:t>
            </a:r>
            <a:endParaRPr lang="en-US" sz="10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D66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46304" y="0"/>
            <a:ext cx="164592" cy="384048"/>
          </a:xfrm>
          <a:prstGeom prst="rect">
            <a:avLst/>
          </a:prstGeom>
          <a:solidFill>
            <a:srgbClr val="2D66C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594360" y="50292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Conclusiones y próximos pasos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12648" y="987552"/>
            <a:ext cx="8869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 demuestra avance verificable, control metodológico y base técnica para continuar.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94360" y="1298448"/>
            <a:ext cx="822960" cy="45720"/>
          </a:xfrm>
          <a:prstGeom prst="rect">
            <a:avLst/>
          </a:prstGeom>
          <a:solidFill>
            <a:srgbClr val="2D66C3"/>
          </a:solidFill>
          <a:ln w="12700">
            <a:solidFill>
              <a:srgbClr val="2D66C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7" name="Image 0" descr="/mnt/data/duoc_media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3247" y="155448"/>
            <a:ext cx="1005840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565392"/>
            <a:ext cx="475488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" dirty="0">
                <a:solidFill>
                  <a:srgbClr val="6A88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Escuela de Informática y Telecomunicaciones</a:t>
            </a:r>
            <a:endParaRPr lang="en-US" sz="580" dirty="0"/>
          </a:p>
        </p:txBody>
      </p:sp>
      <p:sp>
        <p:nvSpPr>
          <p:cNvPr id="9" name="Text 6"/>
          <p:cNvSpPr/>
          <p:nvPr/>
        </p:nvSpPr>
        <p:spPr>
          <a:xfrm>
            <a:off x="11475720" y="6501384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7A84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685800" y="1508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63"/>
                </a:solidFill>
              </a:rPr>
              <a:t>Conclusiones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13232" y="1901952"/>
            <a:ext cx="5212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TicketIA ya cuenta con una base funcional validada: acceso, usuarios, categorías y creación de tickets.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713232" y="2496312"/>
            <a:ext cx="5212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 avance está respaldado por evidencias disciplinarias: pruebas, defectos corregidos, ERD, capturas y Jira.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713232" y="3090672"/>
            <a:ext cx="5212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 mayor aprendizaje es integrar calidad desde el desarrollo y no solo al cierre del sprint.</a:t>
            </a:r>
            <a:endParaRPr lang="en-US" sz="1120" dirty="0"/>
          </a:p>
        </p:txBody>
      </p:sp>
      <p:sp>
        <p:nvSpPr>
          <p:cNvPr id="14" name="Text 11"/>
          <p:cNvSpPr/>
          <p:nvPr/>
        </p:nvSpPr>
        <p:spPr>
          <a:xfrm>
            <a:off x="6400800" y="1508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63"/>
                </a:solidFill>
              </a:rPr>
              <a:t>Siguiente ciclo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0" y="1901952"/>
            <a:ext cx="4663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Sprint 2: consulta, detalle, asignación, estado y solución técnica.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2404872"/>
            <a:ext cx="4663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Sprint 3: comentarios, historial, adjuntos e IA.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0" y="2907792"/>
            <a:ext cx="4663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Sprint 4: dashboard, tablero Kanban, evaluación y cierre técnico.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0" y="3410712"/>
            <a:ext cx="46634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Holgura: documentación final, despliegue y preparación de defensa.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5800" y="4983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3A63"/>
                </a:solidFill>
              </a:rPr>
              <a:t>Cierre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85800" y="5303520"/>
            <a:ext cx="9784080" cy="502920"/>
          </a:xfrm>
          <a:prstGeom prst="rect">
            <a:avLst/>
          </a:prstGeom>
          <a:solidFill>
            <a:srgbClr val="F7F9FC"/>
          </a:solidFill>
          <a:ln>
            <a:solidFill>
              <a:srgbClr val="E4EAF3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111827"/>
                </a:solidFill>
              </a:rPr>
              <a:t>El proyecto mantiene factibilidad porque el MVP se construye de manera incremental, con un backlog priorizado y evidencias de calidad en cada sprint.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1303</Words>
  <Application>Microsoft Office PowerPoint</Application>
  <PresentationFormat>Panorámica</PresentationFormat>
  <Paragraphs>249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Duoc 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TicketIA — Informe de Avance Fase 2</dc:title>
  <dc:subject>TicketIA - Presentación Fase 2</dc:subject>
  <dc:creator>OpenAI</dc:creator>
  <cp:lastModifiedBy>david navarro rojas</cp:lastModifiedBy>
  <cp:revision>1</cp:revision>
  <dcterms:created xsi:type="dcterms:W3CDTF">2026-10-14T00:37:35Z</dcterms:created>
  <dcterms:modified xsi:type="dcterms:W3CDTF">2026-10-14T00:43:38Z</dcterms:modified>
</cp:coreProperties>
</file>